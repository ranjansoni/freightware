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DELIVERY: Start with energy. Let the title breathe for 2 seconds.</a:t>
            </a:r>
          </a:p>
          <a:p>
            <a:r>
              <a:t/>
            </a:r>
          </a:p>
          <a:p>
            <a:r>
              <a:t>Key message: We turn messy cargo data into optimal load plans in seconds, not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DELIVERY: Let these numbers sink in. Pause after each stat.</a:t>
            </a:r>
          </a:p>
          <a:p>
            <a:r>
              <a:t>The audience should feel the pain before you show the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PITCH NOTES:</a:t>
            </a:r>
          </a:p>
          <a:p>
            <a:r>
              <a:t>INVESTOR: Shows immediate, quantified ROI on first login</a:t>
            </a:r>
          </a:p>
          <a:p>
            <a:r>
              <a:t>CUSTOMER: Your dispatcher sees everything on one screen - no spreadsheets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PITCH NOTES:</a:t>
            </a:r>
          </a:p>
          <a:p>
            <a:r>
              <a:t>INVESTOR: Replaces 45 min of manual data wrangling per batch</a:t>
            </a:r>
          </a:p>
          <a:p>
            <a:r>
              <a:t>CUSTOMER: Upload Dave's spreadsheet - FreightWare handles the mess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PITCH NOTES:</a:t>
            </a:r>
          </a:p>
          <a:p>
            <a:r>
              <a:t>INVESTOR: Data moat builds with every shipment processed</a:t>
            </a:r>
          </a:p>
          <a:p>
            <a:r>
              <a:t>CUSTOMER: See all 25 shipments from 8 clients at a glance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PITCH NOTES:</a:t>
            </a:r>
          </a:p>
          <a:p>
            <a:r>
              <a:t>INVESTOR: Every constraint that makes Excel break, we handle natively</a:t>
            </a:r>
          </a:p>
          <a:p>
            <a:r>
              <a:t>CUSTOMER: Your floor rules, encoded - no more tribal knowledge risk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PITCH NOTES:</a:t>
            </a:r>
          </a:p>
          <a:p>
            <a:r>
              <a:t>INVESTOR: Production-grade OR-Tools solver with quantum roadmap</a:t>
            </a:r>
          </a:p>
          <a:p>
            <a:r>
              <a:t>CUSTOMER: 5 containers to 3 containers. $5,400 saved this week.</a:t>
            </a:r>
          </a:p>
          <a:p>
            <a:r>
              <a:t/>
            </a:r>
          </a:p>
          <a:p>
            <a:r>
              <a:t>DELIVERY: This is your 'wow' moment. Emphasize '2.4 seconds' and '$5,400 per week'.</a:t>
            </a:r>
          </a:p>
          <a:p>
            <a:r>
              <a:t>These numbers come from our actual demo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PITCH NOTES:</a:t>
            </a:r>
          </a:p>
          <a:p>
            <a:r>
              <a:t>INVESTOR: Human-in-the-loop - operators trust it because they can override</a:t>
            </a:r>
          </a:p>
          <a:p>
            <a:r>
              <a:t>CUSTOMER: Your planner adjusts the load, FreightWare validates it instantly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PITCH NOTES:</a:t>
            </a:r>
          </a:p>
          <a:p>
            <a:r>
              <a:t>INVESTOR: Visual differentiator - competitors show tables, we show the container</a:t>
            </a:r>
          </a:p>
          <a:p>
            <a:r>
              <a:t>CUSTOMER: Show your client exactly where their cargo sits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PITCH NOTES:</a:t>
            </a:r>
          </a:p>
          <a:p>
            <a:r>
              <a:t>INVESTOR: THIS is the product insight - no competitor does warm-start replanning</a:t>
            </a:r>
          </a:p>
          <a:p>
            <a:r>
              <a:t>CUSTOMER: Cargo doesn't match the paperwork? Fixed before the forklift moves.</a:t>
            </a:r>
          </a:p>
          <a:p>
            <a:r>
              <a:t/>
            </a:r>
          </a:p>
          <a:p>
            <a:r>
              <a:t>DELIVERY: SLOW DOWN HERE. This is your differentiator slide.</a:t>
            </a:r>
          </a:p>
          <a:p>
            <a:r>
              <a:t>Say: 'No competitor does warm-start replanning from dock scanner input.</a:t>
            </a:r>
          </a:p>
          <a:p>
            <a:r>
              <a:t>This is the feature that makes FreightWare defensible.'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PITCH NOTES:</a:t>
            </a:r>
          </a:p>
          <a:p>
            <a:r>
              <a:t>INVESTOR: CFOs and ops directors see hard ROI, not vague promises</a:t>
            </a:r>
          </a:p>
          <a:p>
            <a:r>
              <a:t>CUSTOMER: Print this for your monthly client review - shows the value you deliver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PITCH NOTES:</a:t>
            </a:r>
          </a:p>
          <a:p>
            <a:r>
              <a:t>INVESTOR: Blue-collar UX - purpose-built for warehouse floor, not desktop</a:t>
            </a:r>
          </a:p>
          <a:p>
            <a:r>
              <a:t>CUSTOMER: Hand this to your floor worker. No training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PITCH NOTES:</a:t>
            </a:r>
          </a:p>
          <a:p>
            <a:r>
              <a:t>INVESTOR: LLM interface = stickiness. Users don't go back to spreadsheets.</a:t>
            </a:r>
          </a:p>
          <a:p>
            <a:r>
              <a:t>CUSTOMER: 'Which container has space for 2 more pallets?' - just ask.</a:t>
            </a:r>
          </a:p>
          <a:p>
            <a:r>
              <a:t/>
            </a:r>
          </a:p>
          <a:p>
            <a:r>
              <a:t>NOTE: Current prototype uses keyword matching. LLM integration on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DELIVERY: Quick walk-through only - don't linger here.</a:t>
            </a:r>
          </a:p>
          <a:p>
            <a:r>
              <a:t>The point is to show enterprise-readiness: SSO, integrations, billing.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DELIVERY: End confidently. Don't oversell.</a:t>
            </a:r>
          </a:p>
          <a:p>
            <a:r>
              <a:t>'We're looking for consolidators on the Vancouver corridor who want to</a:t>
            </a:r>
          </a:p>
          <a:p>
            <a:r>
              <a:t>stop overpaying for containers. 90-day pilot, $2,500 per lane per month,</a:t>
            </a:r>
          </a:p>
          <a:p>
            <a:r>
              <a:t>and we prove ROI in the first 2 weeks.'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058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03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FreightWare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Container Load Planning &amp; Real-Time Replanning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40480" y="3474720"/>
            <a:ext cx="1463040" cy="27432"/>
          </a:xfrm>
          <a:prstGeom prst="rect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Demo —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planning costs consolidators time, money, and containers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737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85–92%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94360" y="2834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utilization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(target: 95–97%)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06040" y="1463040"/>
            <a:ext cx="192024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7373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0604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$1.5M+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2743200" y="2834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failures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0" y="1463040"/>
            <a:ext cx="192024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373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5488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3+ hrs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4892040" y="2834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planning cycle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903720" y="1463040"/>
            <a:ext cx="192024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73736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0372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in 5</a:t>
            </a:r>
            <a:endParaRPr lang="en-US" sz="2800" dirty="0"/>
          </a:p>
        </p:txBody>
      </p:sp>
      <p:sp>
        <p:nvSpPr>
          <p:cNvPr id="20" name="Text 14"/>
          <p:cNvSpPr/>
          <p:nvPr/>
        </p:nvSpPr>
        <p:spPr>
          <a:xfrm>
            <a:off x="7040880" y="2834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Sailings need 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container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5720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FreightWare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22960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&amp; Clean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26060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 with AI-powered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validation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377440" y="20116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606040" y="118872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4630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060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743200" y="26060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constraint solver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utilization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26280" y="20116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754880" y="118872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4630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488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&amp; Edit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892040" y="26060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load plans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3D visualization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675120" y="20116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903720" y="118872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46304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0372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040880" y="26060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replanning when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scans diverge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FreightWare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&amp; KPIs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operations overview — shipments, containers, utilization, savings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solidFill>
            <a:srgbClr val="1A2332"/>
          </a:solidFill>
          <a:ln w="12700">
            <a:solidFill>
              <a:srgbClr val="334155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Drop screenshot: Dashboard with KPI cards + utilization chart 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12080" y="10515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row: active shipments, containers used, avg utilization, weekly savings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utilization trend chart with target line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panel with proactive recommendations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shipments quick-view with status badges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12080" y="3017520"/>
            <a:ext cx="3566160" cy="411480"/>
          </a:xfrm>
          <a:prstGeom prst="rect">
            <a:avLst/>
          </a:prstGeom>
          <a:solidFill>
            <a:srgbClr val="0F2B1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3492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212080" y="3520440"/>
            <a:ext cx="3566160" cy="4114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34924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FreightWare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CSV Import &amp; Data Cleaning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messy TMS exports and auto-clean them — just like real life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solidFill>
            <a:srgbClr val="1A2332"/>
          </a:solidFill>
          <a:ln w="12700">
            <a:solidFill>
              <a:srgbClr val="334155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Drop screenshot: Import CSV modal with validation results 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12080" y="10515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CSV upload from any TMS export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flags: missing dimensions, unit mismatches, duplicate rows, typos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Auto-correction with confidence scores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accept or manual review per row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12080" y="3017520"/>
            <a:ext cx="3566160" cy="411480"/>
          </a:xfrm>
          <a:prstGeom prst="rect">
            <a:avLst/>
          </a:prstGeom>
          <a:solidFill>
            <a:srgbClr val="0F2B1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3492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212080" y="3520440"/>
            <a:ext cx="3566160" cy="4114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34924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FreightWare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Shipment Management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shipment registry with AI-powered quality flags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solidFill>
            <a:srgbClr val="1A2332"/>
          </a:solidFill>
          <a:ln w="12700">
            <a:solidFill>
              <a:srgbClr val="334155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Drop screenshot: Shipments table with filters and detail modal 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12080" y="10515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Sortable, filterable table across all clients and priorities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flags per shipment (dimension anomalies, weight outliers)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modal with full manifest, dimensions, hazmat class, delivery window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actions: approve flagged, export cleaned data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12080" y="3017520"/>
            <a:ext cx="3566160" cy="411480"/>
          </a:xfrm>
          <a:prstGeom prst="rect">
            <a:avLst/>
          </a:prstGeom>
          <a:solidFill>
            <a:srgbClr val="0F2B1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3492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212080" y="3520440"/>
            <a:ext cx="3566160" cy="4114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34924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FreightWare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Constraint Configuration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rules — the optimizer respects them all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solidFill>
            <a:srgbClr val="1A2332"/>
          </a:solidFill>
          <a:ln w="12700">
            <a:solidFill>
              <a:srgbClr val="334155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Drop screenshot: Optimizer page with constraint panel open 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12080" y="10515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limits per container type (20ft, 40ft, 40ft HC)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separation rules and hazmat compatibility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window grouping — only co-route compatible loads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levels: express, standard, economy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12080" y="3017520"/>
            <a:ext cx="3566160" cy="411480"/>
          </a:xfrm>
          <a:prstGeom prst="rect">
            <a:avLst/>
          </a:prstGeom>
          <a:solidFill>
            <a:srgbClr val="0F2B1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3492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212080" y="3520440"/>
            <a:ext cx="3566160" cy="4114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34924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FreightWare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Optimization Engine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— OR-Tools solver finds the optimal assignment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solidFill>
            <a:srgbClr val="1A2332"/>
          </a:solidFill>
          <a:ln w="12700">
            <a:solidFill>
              <a:srgbClr val="334155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Drop screenshot: Optimization running + results summary 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12080" y="10515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progress: constraint loading → solving → verifying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summary: containers before vs after, utilization lift, cost saved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reduction estimate per optimization run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results or proceed to visual load plan editor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12080" y="3017520"/>
            <a:ext cx="3566160" cy="411480"/>
          </a:xfrm>
          <a:prstGeom prst="rect">
            <a:avLst/>
          </a:prstGeom>
          <a:solidFill>
            <a:srgbClr val="0F2B1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3492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212080" y="3520440"/>
            <a:ext cx="3566160" cy="4114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34924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FreightWare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Plan Editor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shipments between containers with live constraint feedback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solidFill>
            <a:srgbClr val="1A2332"/>
          </a:solidFill>
          <a:ln w="12700">
            <a:solidFill>
              <a:srgbClr val="334155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Drop screenshot: Load plan page with container columns + drag cards 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12080" y="10515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container columns with fill-level bars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shipment cards between containers or to unassigned pool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constraint validation — red alerts on violations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Undo/redo support and ‘Suggest Plan’ AI button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12080" y="3017520"/>
            <a:ext cx="3566160" cy="411480"/>
          </a:xfrm>
          <a:prstGeom prst="rect">
            <a:avLst/>
          </a:prstGeom>
          <a:solidFill>
            <a:srgbClr val="0F2B1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3492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212080" y="3520440"/>
            <a:ext cx="3566160" cy="4114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34924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FreightWare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Container Visualization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how cargo fits inside the container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solidFill>
            <a:srgbClr val="1A2332"/>
          </a:solidFill>
          <a:ln w="12700">
            <a:solidFill>
              <a:srgbClr val="334155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Drop screenshot: 3D container view with colored cargo blocks 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12080" y="10515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 scene — rotate, zoom, pan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by client for multi-shipper containers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to manifest dimensions (L × W × H)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proof for customer sign-off and compliance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12080" y="3017520"/>
            <a:ext cx="3566160" cy="411480"/>
          </a:xfrm>
          <a:prstGeom prst="rect">
            <a:avLst/>
          </a:prstGeom>
          <a:solidFill>
            <a:srgbClr val="0F2B1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3492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212080" y="3520440"/>
            <a:ext cx="3566160" cy="4114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34924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FreightWare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Replanning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dock scanners detect a mismatch — replan in under a second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solidFill>
            <a:srgbClr val="1A2332"/>
          </a:solidFill>
          <a:ln w="12700">
            <a:solidFill>
              <a:srgbClr val="334155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Drop screenshot: Replan page with deviation alert + before/after 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12080" y="10515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scanner alert: manifest vs actual dimensions comparison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assessment: which containers are affected, overflow risk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replan with animated solving progress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comparison showing the new assignment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12080" y="3017520"/>
            <a:ext cx="3566160" cy="411480"/>
          </a:xfrm>
          <a:prstGeom prst="rect">
            <a:avLst/>
          </a:prstGeom>
          <a:solidFill>
            <a:srgbClr val="0F2B1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3492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212080" y="3520440"/>
            <a:ext cx="3566160" cy="4114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34924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FreightWare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&amp; Reports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waterfall, client treemap, density analysis, container breakdown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solidFill>
            <a:srgbClr val="1A2332"/>
          </a:solidFill>
          <a:ln w="12700">
            <a:solidFill>
              <a:srgbClr val="334155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Drop screenshot: Reports page with charts scrolled 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12080" y="10515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waterfall: where savings come from (container reduction, overflow avoided)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volume treemap — who’s your most profitable consolidation partner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density scatter plot — identify packing efficiency outliers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mix and container type breakdown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12080" y="3017520"/>
            <a:ext cx="3566160" cy="411480"/>
          </a:xfrm>
          <a:prstGeom prst="rect">
            <a:avLst/>
          </a:prstGeom>
          <a:solidFill>
            <a:srgbClr val="0F2B1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3492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212080" y="3520440"/>
            <a:ext cx="3566160" cy="4114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34924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FreightWare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Tablet Floor View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loading instructions for dock workers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solidFill>
            <a:srgbClr val="1A2332"/>
          </a:solidFill>
          <a:ln w="12700">
            <a:solidFill>
              <a:srgbClr val="334155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Drop screenshot: Tablet view with load sequence + placement diagram 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12080" y="10515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load order — one item at a time, large touch targets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placement diagram showing exactly where to put each piece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Per-piece dimensions, weight, and handling notes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complete per step — tracks floor progress in real time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12080" y="3017520"/>
            <a:ext cx="3566160" cy="411480"/>
          </a:xfrm>
          <a:prstGeom prst="rect">
            <a:avLst/>
          </a:prstGeom>
          <a:solidFill>
            <a:srgbClr val="0F2B1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3492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212080" y="3520440"/>
            <a:ext cx="3566160" cy="4114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34924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FreightWare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Chatbot Assistant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interface for quick answers and constraint updates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solidFill>
            <a:srgbClr val="1A2332"/>
          </a:solidFill>
          <a:ln w="12700">
            <a:solidFill>
              <a:srgbClr val="334155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10515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Drop screenshot: Chatbot open with conversation 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12080" y="10515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shipments, utilization, savings — in plain English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suggestions per page (dashboard, optimizer, load plan)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keyword matching; LLM integration on roadmap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voice interface for hands-free floor use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12080" y="3017520"/>
            <a:ext cx="3566160" cy="411480"/>
          </a:xfrm>
          <a:prstGeom prst="rect">
            <a:avLst/>
          </a:prstGeom>
          <a:solidFill>
            <a:srgbClr val="0F2B1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3492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212080" y="3520440"/>
            <a:ext cx="3566160" cy="4114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34924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FreightWare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Settings &amp; Integrations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40080" y="9144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 Profile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017520" y="914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details, CBSA warehouse ID, CIFFA membership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444752"/>
            <a:ext cx="8229600" cy="43891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14447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Management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17520" y="144475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admin, planner, floor worker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975104"/>
            <a:ext cx="822960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0080" y="197510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 Yard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017520" y="197510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inventory with type specs and availability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505456"/>
            <a:ext cx="8229600" cy="43891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0080" y="25054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017520" y="250545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TMS, dock scanner (Cubiscan/CargoSpect), ERP connectors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035808"/>
            <a:ext cx="822960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0080" y="30358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017520" y="303580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alerts, optimization complete, utilization drops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566160"/>
            <a:ext cx="8229600" cy="43891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40080" y="35661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Billing &amp; Plan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017520" y="35661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$2,500/lane/month — transparent, value-based pricing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096512"/>
            <a:ext cx="822960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40080" y="40965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Appearance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017520" y="409651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theme, density, sidebar preferences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FreightWare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03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see it live?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pilot  ·  $2,500/lane/month  ·  Vancouver corridor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286000" y="3474720"/>
            <a:ext cx="45720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0" y="3474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Armaan Soni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armaansoni@gmail.com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FreightWare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FreightWare — Product Demo</dc:title>
  <dc:subject>PptxGenJS Presentation</dc:subject>
  <dc:creator>FreightWave</dc:creator>
  <cp:lastModifiedBy>FreightWave</cp:lastModifiedBy>
  <cp:revision>1</cp:revision>
  <dcterms:created xsi:type="dcterms:W3CDTF">2026-03-25T04:16:17Z</dcterms:created>
  <dcterms:modified xsi:type="dcterms:W3CDTF">2026-03-25T04:16:17Z</dcterms:modified>
</cp:coreProperties>
</file>